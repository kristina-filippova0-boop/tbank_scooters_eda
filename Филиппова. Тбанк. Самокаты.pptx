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41C81-A324-6F89-AF57-9EFD38D96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C6202F7-0E80-9DED-86A4-76600A696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BB4D9D-1E6D-2AE3-F5EE-10579268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E2C0-248A-411D-85B3-A414BEAE651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3F1ED9-0512-954C-674D-E8B59537B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60D4C3-8906-7011-6468-3F1F9C430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0D9-F0EA-4F83-8B67-025AB291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30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B1250-9061-8832-85B1-873BCEF9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DE205C-E0D6-AA73-43CF-B01AEF601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94ADC4-945B-1C16-99E8-49CBCA6D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E2C0-248A-411D-85B3-A414BEAE651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3BD499-7FA4-BC2F-AED9-B520D9EB1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0D33E7-1E16-6C11-D437-D15452D6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0D9-F0EA-4F83-8B67-025AB291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445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A4372-8581-718B-800E-E8E5FB909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3687EA-1819-995C-7B60-ABFF1C628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C44017-CDDB-707E-0450-31A548DE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E2C0-248A-411D-85B3-A414BEAE651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B5C6FF-4BE6-F322-514C-74F1201A9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ECAA70-83E5-AF96-7A62-F3CE7684E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0D9-F0EA-4F83-8B67-025AB291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75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37233E-EA91-DB4F-EDD1-4E6635D0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B78F2B-4336-AF08-4534-20A80332A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B95145-7611-6F49-FF2E-3B554C1DA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805EEB-FA84-853D-CB77-662A26B23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E2C0-248A-411D-85B3-A414BEAE651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C80212-4345-F703-2B67-78E872079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AB6262-0D91-40E7-DAEF-35215465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0D9-F0EA-4F83-8B67-025AB291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31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EC391-B95C-97EA-D601-63BF8EF9C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2EEF67-E3C1-69D2-05B0-AA333C0E0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816742-D988-C1B5-6D1F-AE1F319EE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80F8C82-1721-D20C-1E6F-1E6DC908B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73B2B8-3FDD-9C18-15B4-D1D743BCE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F2D87C0-AE36-109F-85EF-351ED751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E2C0-248A-411D-85B3-A414BEAE651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BE7CF8A-C857-A56C-ED78-3179C391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D4D1113-5898-47C6-1BB1-FA3C4267D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0D9-F0EA-4F83-8B67-025AB291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39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34ADF-2E6E-F07A-3A37-2464055DD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B338736-C48F-DF09-33DA-CB87DCC8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E2C0-248A-411D-85B3-A414BEAE651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36976BA-5860-9746-8A5C-580C0202E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0C225E-AE3C-BBBC-3721-DF3FDF9D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0D9-F0EA-4F83-8B67-025AB291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44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F3F8B40-1579-6200-68C6-947AA5DDC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E2C0-248A-411D-85B3-A414BEAE651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FE1DB7-EBE9-087D-D997-9F69D02E7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4CB90D-6C99-6636-19D5-8025714D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0D9-F0EA-4F83-8B67-025AB291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765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243A1-CC93-0C50-512A-986E71039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886B7F-7929-2E47-D153-B5250C53C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61B8E4-9596-F110-3021-8E9F82DB9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72699F-01B8-1A49-B77B-D532D648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E2C0-248A-411D-85B3-A414BEAE651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AD6712-180B-0CFD-E79B-CA56E813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47D252-4880-22C2-F22D-F75A862E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0D9-F0EA-4F83-8B67-025AB291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68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93CFC4-0016-4252-D86C-A6B78F705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7644EE-326D-22A2-C3EF-0CEA899D1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226F2B-4FD5-BFAF-F955-71D74B397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F85459-DAC2-3912-6DC7-AA9D46A33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E2C0-248A-411D-85B3-A414BEAE651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21036B-490F-6423-AF4F-C82E7E1B3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EA1A83-1D6B-1999-F489-444EE5B4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0D9-F0EA-4F83-8B67-025AB291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053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BFC3F-263E-98C9-E4AB-4A3AB1FE0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C92234-409A-F271-D7A6-1D6F0E454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7732D8-B191-D932-698E-DA9D1D184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E2C0-248A-411D-85B3-A414BEAE651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790E23-61AF-F77D-6237-293F40A25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84C2FE-3FAB-2274-0A69-B7415C12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0D9-F0EA-4F83-8B67-025AB291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811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672ED3D-FCF7-731C-1368-DE8594813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B933B8-2615-1AEA-8424-2D59AA657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AA593A-CC1F-2676-58E9-ED580A86A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E2C0-248A-411D-85B3-A414BEAE651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B5A76B-E0A2-DF01-90A0-72B2B26BD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DB3605-AD95-1D60-F0B6-779B4B049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0D9-F0EA-4F83-8B67-025AB291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90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B4850-9DB2-15D4-0821-BF8D2FE3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D2FEF1-EF43-627B-E7FC-62143C08B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A54E6F-28BD-1E2F-9B87-EDF9E8A7A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8E2C0-248A-411D-85B3-A414BEAE6517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FDD413-A508-DEA5-0BE8-A3A614C97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C1923C-DA50-0B94-3376-F71271CEC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B470D9-F0EA-4F83-8B67-025AB291B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57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C94E3-3CEF-C26D-B7D0-33C10EBD5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0507" y="347072"/>
            <a:ext cx="2331493" cy="2409776"/>
          </a:xfrm>
        </p:spPr>
        <p:txBody>
          <a:bodyPr>
            <a:normAutofit/>
          </a:bodyPr>
          <a:lstStyle/>
          <a:p>
            <a:r>
              <a:rPr lang="ru-RU" sz="2000" b="1" dirty="0"/>
              <a:t>Анализ сервиса аренды самокатов Т-Банка</a:t>
            </a:r>
            <a:endParaRPr lang="ru-RU" sz="2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33BD33-7507-FA18-FF8A-408141C26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28245" y="5424129"/>
            <a:ext cx="2991135" cy="1417320"/>
          </a:xfrm>
        </p:spPr>
        <p:txBody>
          <a:bodyPr/>
          <a:lstStyle/>
          <a:p>
            <a:r>
              <a:rPr lang="ru-RU" b="1" dirty="0"/>
              <a:t>Филиппова Кристина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E3BE6F-9D0E-F816-BE7F-09C1403F4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569" y="0"/>
            <a:ext cx="9696734" cy="684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27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8DEA8-EDCE-1129-4D17-912334393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Гипотеза 1 — </a:t>
            </a:r>
            <a:r>
              <a:rPr lang="ru-RU" dirty="0" err="1"/>
              <a:t>Кешбек</a:t>
            </a:r>
            <a:r>
              <a:rPr lang="ru-RU" dirty="0"/>
              <a:t> увеличивает активность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05B04ED-E845-F74A-29C4-DA71FD67C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16" y="1771034"/>
            <a:ext cx="6670984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13B026-B42D-B03D-1981-D918626E99DD}"/>
              </a:ext>
            </a:extLst>
          </p:cNvPr>
          <p:cNvSpPr txBox="1"/>
          <p:nvPr/>
        </p:nvSpPr>
        <p:spPr>
          <a:xfrm>
            <a:off x="7459391" y="1592212"/>
            <a:ext cx="45738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ru-RU" sz="2000" dirty="0"/>
            </a:br>
            <a:r>
              <a:rPr lang="ru-RU" sz="2000" b="1" dirty="0"/>
              <a:t>Пользователи, которые получают </a:t>
            </a:r>
            <a:r>
              <a:rPr lang="ru-RU" sz="2000" b="1" dirty="0" err="1"/>
              <a:t>кешбек</a:t>
            </a:r>
            <a:r>
              <a:rPr lang="ru-RU" sz="2000" b="1" dirty="0"/>
              <a:t>, демонстрируют небольшое, но заметное увеличение числа поездок по сравнению с пользователями без </a:t>
            </a:r>
            <a:r>
              <a:rPr lang="ru-RU" sz="2000" b="1" dirty="0" err="1"/>
              <a:t>кешбека</a:t>
            </a:r>
            <a:r>
              <a:rPr lang="ru-RU" sz="2000" b="1" dirty="0"/>
              <a:t>. Программа лояльности влияет на активность клиентов, хотя эффект не слишком выражен, что может быть связано с общей массой пользователей и другими факторами, влияющими на количество поездок.</a:t>
            </a:r>
          </a:p>
          <a:p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47148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9CDA9-A55B-7574-81C7-1AF783F4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Гипотеза 2. Модель самоката влияет на стоимость поездки</a:t>
            </a:r>
            <a:br>
              <a:rPr lang="ru-RU" dirty="0"/>
            </a:b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A0516DD-8598-971A-552B-296B86E5A3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3" y="1526914"/>
            <a:ext cx="8095644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F6AAA0-D6CE-B430-81C8-E834065342F9}"/>
              </a:ext>
            </a:extLst>
          </p:cNvPr>
          <p:cNvSpPr txBox="1"/>
          <p:nvPr/>
        </p:nvSpPr>
        <p:spPr>
          <a:xfrm>
            <a:off x="8154538" y="1225689"/>
            <a:ext cx="393737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показал, что стоимость поездки существенно зависит от модели самоката. Средние и медианные значения по моделям варьируются от 25,7 руб. (</a:t>
            </a:r>
            <a:r>
              <a:rPr lang="ru-RU" b="1" dirty="0" err="1"/>
              <a:t>Lucky</a:t>
            </a:r>
            <a:r>
              <a:rPr lang="ru-RU" b="1" dirty="0"/>
              <a:t>) до 110,5 руб. (ES200). Это подтверждает гипотезу о различии стоимости поездки между моделями. Выбросы и сильно скошенные распределения присутствуют, особенно у дешёвых моделей, но общая тенденция чётко видна: одни модели приносят больше выручки, другие — значительно меньше. Рекомендация: рассмотреть сегментацию моделей для оптимизации тарифа и повышения дохода.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8685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C4BCFB-5B41-F002-AB1B-F6609E9DF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Гипотеза 3. Активность пользователей по часам</a:t>
            </a:r>
            <a:br>
              <a:rPr lang="ru-RU" dirty="0"/>
            </a:b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4E5AD31-3EBC-5487-85FF-93EE618DD9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690688"/>
            <a:ext cx="8366078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60EFA5-D412-F2B2-280E-376CB54A3EA9}"/>
              </a:ext>
            </a:extLst>
          </p:cNvPr>
          <p:cNvSpPr txBox="1"/>
          <p:nvPr/>
        </p:nvSpPr>
        <p:spPr>
          <a:xfrm>
            <a:off x="8284191" y="736979"/>
            <a:ext cx="38418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распределения поездок по часам суток с автоматическим определением пиков показал, что наибольшая активность пользователей приходится на часы 5, 14–16, а не на ранее предполагаемые 8–10 и 17–19. Пиковые часы составляют около 29 % всех поездок, при этом среднее количество поездок на час в это время (25 484) почти в два раза превышает среднее число поездок в непиковые часы (12 447). Это подтверждает гипотезу о существовании пиковых периодов активности и позволяет более точно планировать распределение самокатов и маркетинговые активности.</a:t>
            </a:r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162062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3778B-4346-BA97-8FB7-142B46D1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Гипотеза 4. Длительность поездки коррелирует с дистанцией</a:t>
            </a:r>
            <a:br>
              <a:rPr lang="ru-RU" dirty="0"/>
            </a:b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3EB9C8D-AD6E-613B-D717-DAF2D9893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63" y="1410715"/>
            <a:ext cx="7444724" cy="4895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DDAF5F-5C50-CF08-7550-C09F9E5E276C}"/>
              </a:ext>
            </a:extLst>
          </p:cNvPr>
          <p:cNvSpPr txBox="1"/>
          <p:nvPr/>
        </p:nvSpPr>
        <p:spPr>
          <a:xfrm>
            <a:off x="8113594" y="1228299"/>
            <a:ext cx="357571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/>
              <a:t>Анализ корреляции между расстоянием и длительностью поездки показал сильную положительную зависимость (корреляция log(distance_km) и log(ride_duration_min) = 0,79). Это подтверждает гипотезу о том, что чем больше расстояние поездки, тем дольше длительность. Логарифмирование переменных позволило корректно визуализировать данные с сильно скошенным распределением. Вывод важен для прогнозирования времени поездки и планирования тарифа.</a:t>
            </a:r>
          </a:p>
        </p:txBody>
      </p:sp>
    </p:spTree>
    <p:extLst>
      <p:ext uri="{BB962C8B-B14F-4D97-AF65-F5344CB8AC3E}">
        <p14:creationId xmlns:p14="http://schemas.microsoft.com/office/powerpoint/2010/main" val="2168581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218F0-1DFC-68B5-20DE-9D04918B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Гипотеза 5. Новые пользователи делают короткие поездки</a:t>
            </a:r>
            <a:br>
              <a:rPr lang="ru-RU" dirty="0"/>
            </a:b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A14FD53-1618-677D-5013-D3E3A7F83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46" y="1525373"/>
            <a:ext cx="6464884" cy="46775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3D5EB5-BEAE-73B2-0773-B21CA44A68AF}"/>
              </a:ext>
            </a:extLst>
          </p:cNvPr>
          <p:cNvSpPr txBox="1"/>
          <p:nvPr/>
        </p:nvSpPr>
        <p:spPr>
          <a:xfrm>
            <a:off x="7704160" y="1296537"/>
            <a:ext cx="429222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длительности поездок показал, что постоянные пользователи совершают более длинные поездки, чем новые: среднее время поездки </a:t>
            </a:r>
            <a:r>
              <a:rPr lang="ru-RU" b="1" dirty="0" err="1"/>
              <a:t>Returning</a:t>
            </a:r>
            <a:r>
              <a:rPr lang="ru-RU" b="1" dirty="0"/>
              <a:t> = 8,17 мин против 5,56 мин у New, медианы также различаются (7 и 5,56 мин). </a:t>
            </a:r>
            <a:r>
              <a:rPr lang="ru-RU" b="1" dirty="0" err="1"/>
              <a:t>Boxplot</a:t>
            </a:r>
            <a:r>
              <a:rPr lang="ru-RU" b="1" dirty="0"/>
              <a:t> показывает, что у </a:t>
            </a:r>
            <a:r>
              <a:rPr lang="ru-RU" b="1" dirty="0" err="1"/>
              <a:t>Returning</a:t>
            </a:r>
            <a:r>
              <a:rPr lang="ru-RU" b="1" dirty="0"/>
              <a:t> есть длинный хвост редких длительных поездок до 25 минут. Гипотеза подтверждается, что постоянные клиенты проводят больше времени в поездках. Эти данные позволяют сегментировать пользователей и планировать маркетинговые акции для увеличения длительности поездок новых пользователей.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6351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937D9-205F-055D-3861-F52449DA8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Гипотеза 6. Выручка на пользователя коррелирует с количеством поездок</a:t>
            </a:r>
            <a:br>
              <a:rPr lang="ru-RU" dirty="0"/>
            </a:b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509E0D3-4A05-1542-7A58-A4E4F361B9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64" y="1443487"/>
            <a:ext cx="6717664" cy="49982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1A50BE-8D74-28CA-FBCA-6B55802C92D1}"/>
              </a:ext>
            </a:extLst>
          </p:cNvPr>
          <p:cNvSpPr txBox="1"/>
          <p:nvPr/>
        </p:nvSpPr>
        <p:spPr>
          <a:xfrm>
            <a:off x="7438030" y="1443488"/>
            <a:ext cx="440822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/>
              <a:t>Анализ зависимости числа поездок и суммарной выручки по пользователям показал сильную положительную корреляцию (0,976). Scatterplot с логарифмированными значениями наглядно демонстрирует линейную зависимость: пользователи с большим количеством заказов приносят больше выручки. Гипотеза подтверждается, что число поездок напрямую влияет на доход пользователя. Эти данные позволяют прогнозировать выручку по активности клиентов и сегментировать пользователей для маркетинговых и бизнес-аналитических целей.</a:t>
            </a:r>
          </a:p>
        </p:txBody>
      </p:sp>
    </p:spTree>
    <p:extLst>
      <p:ext uri="{BB962C8B-B14F-4D97-AF65-F5344CB8AC3E}">
        <p14:creationId xmlns:p14="http://schemas.microsoft.com/office/powerpoint/2010/main" val="3436100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31A92D-4EFE-8EC7-DF16-73E4C473C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408B7F2-6572-F716-7D8F-95CED50A3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172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E73D9F-FB36-0F41-771A-7F2446B71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25B2D7D-FD30-3529-9722-3C980BA9F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794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496</Words>
  <Application>Microsoft Office PowerPoint</Application>
  <PresentationFormat>Широкоэкранный</PresentationFormat>
  <Paragraphs>14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Анализ сервиса аренды самокатов Т-Банка</vt:lpstr>
      <vt:lpstr>Гипотеза 1 — Кешбек увеличивает активность</vt:lpstr>
      <vt:lpstr>Гипотеза 2. Модель самоката влияет на стоимость поездки </vt:lpstr>
      <vt:lpstr>Гипотеза 3. Активность пользователей по часам </vt:lpstr>
      <vt:lpstr>Гипотеза 4. Длительность поездки коррелирует с дистанцией </vt:lpstr>
      <vt:lpstr>Гипотеза 5. Новые пользователи делают короткие поездки </vt:lpstr>
      <vt:lpstr>Гипотеза 6. Выручка на пользователя коррелирует с количеством поездок 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Kristina Filippova</dc:creator>
  <cp:lastModifiedBy>Kristina Filippova</cp:lastModifiedBy>
  <cp:revision>1</cp:revision>
  <dcterms:created xsi:type="dcterms:W3CDTF">2026-03-29T18:43:51Z</dcterms:created>
  <dcterms:modified xsi:type="dcterms:W3CDTF">2026-03-29T19:14:48Z</dcterms:modified>
</cp:coreProperties>
</file>